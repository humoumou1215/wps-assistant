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生产事件数</c:v>
                </c:pt>
              </c:strCache>
            </c:strRef>
          </c:tx>
          <c:spPr>
            <a:solidFill>
              <a:srgbClr val="2B8AC6"/>
            </a:solidFill>
            <a:ln w="31750" cap="flat">
              <a:solidFill>
                <a:srgbClr val="2B8AC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B8AC6"/>
              </a:solidFill>
              <a:ln w="9525" cap="flat">
                <a:solidFill>
                  <a:srgbClr val="2B8AC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04月</c:v>
                  </c:pt>
                  <c:pt idx="1">
                    <c:v>05月</c:v>
                  </c:pt>
                  <c:pt idx="2">
                    <c:v>06月</c:v>
                  </c:pt>
                  <c:pt idx="3">
                    <c:v>07月</c:v>
                  </c:pt>
                  <c:pt idx="4">
                    <c:v>08月</c:v>
                  </c:pt>
                  <c:pt idx="5">
                    <c:v>09月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15</c:v>
                </c:pt>
                <c:pt idx="2">
                  <c:v>21</c:v>
                </c:pt>
                <c:pt idx="3">
                  <c:v>12</c:v>
                </c:pt>
                <c:pt idx="4">
                  <c:v>11</c:v>
                </c:pt>
                <c:pt idx="5">
                  <c:v>13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017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Department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9933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9 月工作汇报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32552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科技运行 · 重点项目 · 生产稳定 · 需求交付 · 下月重点工作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55280" y="1463040"/>
            <a:ext cx="31089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66760" y="23957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Department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50808" y="3154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8A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FT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58368" y="63276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内部材料 · 请勿外传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金融科技部月度工作汇报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本月科技运行概览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247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核心运行指标整体平稳，自动化发布水平持续提升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1554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FinTech Department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6355080"/>
            <a:ext cx="113385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282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Monthly Report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287000" y="64282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金融科技部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66928" y="160020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600200"/>
            <a:ext cx="73152" cy="1325880"/>
          </a:xfrm>
          <a:prstGeom prst="rect">
            <a:avLst/>
          </a:prstGeom>
          <a:solidFill>
            <a:srgbClr val="2B8AC6"/>
          </a:solidFill>
          <a:ln w="12700">
            <a:solidFill>
              <a:srgbClr val="2B8A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74650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系统可用率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" y="203911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99.95%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68096" y="245973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较上月下降 0.02 pct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01568" y="160020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1568" y="1600200"/>
            <a:ext cx="73152" cy="13258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02736" y="174650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生产事件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02736" y="203911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 起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602736" y="245973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8A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较上月增加 2 起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36208" y="160020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1600200"/>
            <a:ext cx="73152" cy="13258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174650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需求按期交付率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37376" y="203911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95.6%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37376" y="245973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8A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较上月提升 3.0 pct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070848" y="160020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70848" y="1600200"/>
            <a:ext cx="73152" cy="13258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72016" y="174650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自动化发布率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72016" y="203911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83.0%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272016" y="245973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8A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较上月提升 6.2 pct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3566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本月情况说明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931920"/>
            <a:ext cx="64922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生产运行整体稳定，关键业务系统未发生重大中断。自动化发布覆盖范围继续扩大，交付效率较上月有所提升。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543800" y="35204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EAF4FB"/>
          </a:solidFill>
          <a:ln w="12700">
            <a:solidFill>
              <a:srgbClr val="C7E0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18120" y="38130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管理关注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909560" y="41605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继续推进发布自动化、监控治理与生产事件复盘闭环。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金融科技部月度工作汇报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重点科技项目进展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247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本月重点项目按计划推进，高风险事项已纳入专项跟踪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1554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FinTech Department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6355080"/>
            <a:ext cx="113385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282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Monthly Report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287000" y="64282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金融科技部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66928" y="1417320"/>
            <a:ext cx="2560320" cy="219456"/>
          </a:xfrm>
          <a:prstGeom prst="roundRect">
            <a:avLst>
              <a:gd name="adj" fmla="val 16667"/>
            </a:avLst>
          </a:prstGeom>
          <a:solidFill>
            <a:srgbClr val="EAF4FB"/>
          </a:solidFill>
          <a:ln w="7620">
            <a:solidFill>
              <a:srgbClr val="BBD9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1463040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高风险项目须在周会上专项跟踪</a:t>
            </a:r>
            <a:endParaRPr lang="en-US" sz="6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64240" cy="4160520"/>
        </p:xfrm>
        <a:graphic>
          <a:graphicData uri="http://schemas.openxmlformats.org/drawingml/2006/table">
            <a:tbl>
              <a:tblPr/>
              <a:tblGrid>
                <a:gridCol w="2057400"/>
                <a:gridCol w="1280160"/>
                <a:gridCol w="1051560"/>
                <a:gridCol w="685800"/>
                <a:gridCol w="5989320"/>
              </a:tblGrid>
              <a:tr h="6934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当前阶段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计划上线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本月进展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核心账务系统升级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UAT测试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10-15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第一轮业务验收完成，第二轮回归测试启动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移动银行重构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已上线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10-08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已完成全量上线，首日运行平稳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实时风控平台二期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UAT测试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10-20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外部征信接口已完成联调，反欺诈名单接口计划10月8日完成验证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数据中台统一指标项目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开发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11-12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口径评审新增3项调整，计划上线时间顺延至11月12日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支付清算平台改造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已上线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10-12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交易清算链路已切换，监控指标正常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金融科技部月度工作汇报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生产稳定性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247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生产事件持续压降，重点事件均已闭环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1554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FinTech Department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6355080"/>
            <a:ext cx="113385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282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Monthly Report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287000" y="64282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金融科技部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近六个月生产事件数量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94360" y="1783080"/>
          <a:ext cx="51663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617220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 P1/P2 生产事件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783080"/>
          <a:ext cx="5440680" cy="2834640"/>
        </p:xfrm>
        <a:graphic>
          <a:graphicData uri="http://schemas.openxmlformats.org/drawingml/2006/table">
            <a:tbl>
              <a:tblPr/>
              <a:tblGrid>
                <a:gridCol w="1005840"/>
                <a:gridCol w="621792"/>
                <a:gridCol w="777240"/>
                <a:gridCol w="502920"/>
                <a:gridCol w="1920240"/>
                <a:gridCol w="612648"/>
              </a:tblGrid>
              <a:tr h="7086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级别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事件描述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恢复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INC-260905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09-21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企业网银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批量转账查询超时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28分钟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INC-260902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09-08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支付平台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部分支付交易超时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18分钟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INC-260901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09-03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移动银行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登录接口响应时间升高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35分钟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6217920" y="4736592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备注：生产事件已完成根因分析和闭环跟踪。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金融科技部月度工作汇报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需求交付情况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247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重点需求交付节奏总体可控，延期事项持续压降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1554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FinTech Department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6355080"/>
            <a:ext cx="113385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282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Monthly Report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287000" y="64282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金融科技部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66928" y="1353312"/>
            <a:ext cx="24231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353312"/>
            <a:ext cx="73152" cy="11704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499616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重点需求数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" y="179222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个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68096" y="2212848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8A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纳入本月重点跟踪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01568" y="1353312"/>
            <a:ext cx="24231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1568" y="1353312"/>
            <a:ext cx="73152" cy="11704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02736" y="1499616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已上线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02736" y="179222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个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602736" y="2212848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8A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纳入本月重点跟踪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36208" y="1353312"/>
            <a:ext cx="24231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1353312"/>
            <a:ext cx="73152" cy="1170432"/>
          </a:xfrm>
          <a:prstGeom prst="rect">
            <a:avLst/>
          </a:prstGeom>
          <a:solidFill>
            <a:srgbClr val="2B8AC6"/>
          </a:solidFill>
          <a:ln w="12700">
            <a:solidFill>
              <a:srgbClr val="2B8A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1499616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按期上线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37376" y="179222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个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37376" y="2212848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8A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纳入本月重点跟踪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070848" y="1353312"/>
            <a:ext cx="24231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70848" y="1353312"/>
            <a:ext cx="73152" cy="11704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72016" y="1499616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按期率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72016" y="179222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60.0%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272016" y="2212848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8A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按已上线需求统计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99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延期重点需求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401568"/>
          <a:ext cx="7498080" cy="1508760"/>
        </p:xfrm>
        <a:graphic>
          <a:graphicData uri="http://schemas.openxmlformats.org/drawingml/2006/table">
            <a:tbl>
              <a:tblPr/>
              <a:tblGrid>
                <a:gridCol w="3108960"/>
                <a:gridCol w="1554480"/>
                <a:gridCol w="1188720"/>
                <a:gridCol w="1645920"/>
              </a:tblGrid>
              <a:tr h="7543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计划日期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当前状态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无当前延期重点需求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8549640" y="3401568"/>
            <a:ext cx="2788920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 w="12700">
            <a:solidFill>
              <a:srgbClr val="C7E0F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96528" y="3685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跟踪动作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759952" y="40050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延期需求每日同步进展，必要时升级资源协调。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金融科技部月度工作汇报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下月重点工作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247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聚焦投产准备、风险闭环和重点平台能力建设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1554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FinTech Department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6355080"/>
            <a:ext cx="113385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282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Monthly Report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287000" y="64282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金融科技部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85800" y="1444752"/>
            <a:ext cx="10515600" cy="941832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645920"/>
            <a:ext cx="402336" cy="40233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737360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62456" y="1581912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核心账务系统升级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62456" y="1837944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UAT测试 · 计划 10-15 · 风险 中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362456" y="2020824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第一轮业务验收完成，第二轮回归测试启动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5800" y="2679192"/>
            <a:ext cx="10515600" cy="941832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2880360"/>
            <a:ext cx="402336" cy="40233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971800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62456" y="2816352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移动银行重构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62456" y="3072384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已上线 · 计划 10-08 · 风险 低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1362456" y="3255264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已完成全量上线，首日运行平稳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85800" y="3913632"/>
            <a:ext cx="10515600" cy="941832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114800"/>
            <a:ext cx="402336" cy="40233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206240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62456" y="4050792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实时风控平台二期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62456" y="4306824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UAT测试 · 计划 10-20 · 风险 高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1362456" y="4489704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外部征信接口已完成联调，反欺诈名单接口计划10月8日完成验证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31520" y="5715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管理要求：重大风险事项由牵头团队每日更新，投产窗口变更须提前报备。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Acceptance Exam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标准结果 round1</dc:title>
  <dc:subject>金融科技部月度工作汇报自动更新验收题</dc:subject>
  <dc:creator>OpenAI</dc:creator>
  <cp:lastModifiedBy>OpenAI</cp:lastModifiedBy>
  <cp:revision>1</cp:revision>
  <dcterms:created xsi:type="dcterms:W3CDTF">2026-10-02T07:22:28Z</dcterms:created>
  <dcterms:modified xsi:type="dcterms:W3CDTF">2026-10-02T07:22:28Z</dcterms:modified>
</cp:coreProperties>
</file>